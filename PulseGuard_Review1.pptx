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0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303F"/>
                </a:solidFill>
                <a:latin typeface="Calibri"/>
              </a:rPr>
              <a:t>Decision latency across a prompt burst (seconds)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 fatigue attack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8.2</c:v>
                </c:pt>
                <c:pt idx="1">
                  <c:v>7.6</c:v>
                </c:pt>
                <c:pt idx="2">
                  <c:v>6.5</c:v>
                </c:pt>
                <c:pt idx="3">
                  <c:v>5.4</c:v>
                </c:pt>
                <c:pt idx="4">
                  <c:v>4.3</c:v>
                </c:pt>
                <c:pt idx="5">
                  <c:v>3.1</c:v>
                </c:pt>
                <c:pt idx="6">
                  <c:v>2.4</c:v>
                </c:pt>
                <c:pt idx="7">
                  <c:v>1.6</c:v>
                </c:pt>
                <c:pt idx="8">
                  <c:v>1.1</c:v>
                </c:pt>
                <c:pt idx="9">
                  <c:v>0.8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Legitimate user</c:v>
                </c:pt>
              </c:strCache>
            </c:strRef>
          </c:tx>
          <c:spPr>
            <a:solidFill>
              <a:srgbClr val="2E7D53"/>
            </a:solidFill>
            <a:ln w="38100" cap="flat">
              <a:solidFill>
                <a:srgbClr val="2E7D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53"/>
              </a:solidFill>
              <a:ln w="9525" cap="flat">
                <a:solidFill>
                  <a:srgbClr val="2E7D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3.4</c:v>
                </c:pt>
                <c:pt idx="1">
                  <c:v>3.1</c:v>
                </c:pt>
                <c:pt idx="2">
                  <c:v>3.6</c:v>
                </c:pt>
                <c:pt idx="3">
                  <c:v>3.2</c:v>
                </c:pt>
                <c:pt idx="4">
                  <c:v>3.5</c:v>
                </c:pt>
                <c:pt idx="5">
                  <c:v>3.3</c:v>
                </c:pt>
                <c:pt idx="6">
                  <c:v>3</c:v>
                </c:pt>
                <c:pt idx="7">
                  <c:v>3.4</c:v>
                </c:pt>
                <c:pt idx="8">
                  <c:v>3.2</c:v>
                </c:pt>
                <c:pt idx="9">
                  <c:v>3.3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48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488"/>
                    </a:solidFill>
                    <a:latin typeface="Arial"/>
                  </a:rPr>
                  <a:t>Prompt number in burst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12700" cap="flat">
              <a:solidFill>
                <a:srgbClr val="E4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74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PulseGuard detects MFA fatigue attacks. The core idea: every existing defence either changes the prompt or counts the prompts. None reads the user's reaction. That is where the attack is actually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phases. The attack needs no exploit - it targets cognitive load, habituation and training gaps. Uber is the anchor example: their MFA allowed unlimited attempts with no throttling and no alerting.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cryptographic. It is that push MFA delegates the security decision to a human who is being deliberately overloaded.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two author-stated limitations - P1's 49.5 percent FPR and P3's blindness in known environments. Those are the authors' own words, not my inference, and they carry the gap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Splunk and Elastic rules are the state of practice. Both apply one fixed count uniformly to every user in a tenant - that is the weakness we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 the near-miss paper yourself before an examiner finds it. Two independent reasons it does not close the gap: venue credibility, and - decisively - even taken at face value it models no response behaviour and reports no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boundary of the contribution is what separates a research claim from a marketing claim. Say the incremental parts out loud - it is the first thing a reviewer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strongest sentence in the deck. A fatigued approval and a genuine approval are cryptographically identical. The latency trajectory is the only thing that distinguishes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answers map directly onto the rubric's novelty questions. Six marks of twenty ride on this slide and the two before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attack path bottom of the slide, left to right. Emphasise that step-up is enforced before the capitulation approval - that is what turns detection into prevention.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Java or a hybrid stack: latency on the detection hot path, and a single deployable. River is the specific reason Python wins here - it updates per-user baselines incrementally as events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 3-4 gate matters most: reproduce the Splunk and Elastic rules and measure their precision, recall and FPR. Every later claim is measured against those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thesis. Then invite questions - the four anticipated ones are prepared above.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34440"/>
            <a:ext cx="7863840" cy="457200"/>
          </a:xfrm>
          <a:prstGeom prst="roundRect">
            <a:avLst>
              <a:gd name="adj" fmla="val 44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BCSE410L  •  CYBER SECURITY  •  PROJECT REVIEW 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PulseGuard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Behaviour-Aware Multi-Factor Authentication Fatigue Attack Detector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MFA fatigue attacks by analysing abnormal authentication request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and user response behaviour.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Prasath 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VIT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 — 20 Marks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• 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MFA Fatigue Attack?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who already holds a valid password floods the user with push prompts until one is approved. No cryptography is broken — the target is human habituation.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Acquisition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infostealer logs, or dark-web purchase. The password is already valid.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21031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331720"/>
            <a:ext cx="475488" cy="47548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Flooding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login attempts, each firing a push notification at the legitimate user.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21031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2331720"/>
            <a:ext cx="475488" cy="475488"/>
          </a:xfrm>
          <a:prstGeom prst="ellipse">
            <a:avLst/>
          </a:prstGeom>
          <a:solidFill>
            <a:srgbClr val="2E7D53"/>
          </a:solidFill>
          <a:ln w="12700">
            <a:solidFill>
              <a:srgbClr val="2E7D5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617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Capitulation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approves — to stop the barrage, or believing it routine. One tap grants the session.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24528"/>
            <a:ext cx="10607040" cy="1481328"/>
          </a:xfrm>
          <a:prstGeom prst="roundRect">
            <a:avLst>
              <a:gd name="adj" fmla="val 4938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4074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MITRE ATT&amp;CK T1621 — Multi-Factor Authentication Request Generation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73659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(2022):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Duo prompts in under 30 minutes, then a WhatsApp message impersonating IT. One approval gave full VPN access.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(2022):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plus push spamming after harvesting browser-stored credentials.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Spider (2023–25):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MGM, Caesars and M&amp;S — help-desk social engineering combined with push bombing.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•  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“Design a monitoring system that detects MFA fatigue attacks by analysing abnormal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i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request frequency and user response behaviour.”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9923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 and SOC teams running Entra ID, Okta, Duo or Ping tenants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hospitals with large push-MFA populations and high help-desk volume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and CIAM vendors needing a detection layer above prompt-hardening controls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450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788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999232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matching raises the cost of approval but does not detect an attack in progress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detection is static-threshold SIEM correlation — brittle in both directions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migration is incomplete; legacy and fallback push paths remain and are targeted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labelled dataset exists, so no prior work reports accuracy for this attack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21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 MFA is the most widely deployed second factor in the enterprise — and the easiest to exploit, because its security rests on a human decision made under load.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•  EXISTING SOLUTIONS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Six Papers, All DOIs Verified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 Jubur, Saxena &amp; Reegu (2025)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Mobile Computing 24(6)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29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Compare-and-Confirm push; 65-participant study. TPR 98.48%.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Author-stated: users still miss ~50% of attacks (FPR ≈ 49.5%).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58191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 Jubur et al. (2021)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105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ASIA CCS ’21  — foundational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029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HIENA attack; human-indistinguishable notifications.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322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Attack paper — proposes no defence or detection.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89504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0083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 Picard &amp; Pierre (2023)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2369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11, 61129–61143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456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RLAuth — deep RL adapts challenge level. G-Mean 92.62%.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Author-stated: blind to attacks in known environments.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9504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0083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 Wee, Chekole &amp; Zhou (2025)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2369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Computing Surveys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56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security analysis of MFA protocols.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A survey — no detector, no metrics.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4348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 Sasikumar &amp; Nagarajan (2026)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6634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21(5): e0349095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82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GB/SVM/XGBoost + fuzzy logic + SHAP. 97.77% accuracy.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175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Independent per-login scoring — no response sequence.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4315968"/>
            <a:ext cx="512064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44348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P6  Wiefling et al. (2022)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46634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TOPS 26(1), Article 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4882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3.3M users, 31.3M logins — the public RBA dataset.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5175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No push-flood events and no approve/deny records.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papers fall inside the 2022–2026 window; P2 (2021) is included as the foundational attack paper and declared as such.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•  EXISTING SOLUTIONS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— Two Camps, Neither Detects Fatigue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Compare-and-Confirm (IEEE TMC ’25)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208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Code-binding push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221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by redesign; no detection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715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RLAuth (IEEE Access ’23)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9535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546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RBA; models context, not user response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648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ML + XAI (PLoS One ’26)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fuzzy + SHAP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087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Per-login scoring; no approve/deny sequence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5811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vulnerability survey (ACM CSUR ’25)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security analysis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0200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taxonomy — no detector and no metrics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389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 /  DEPLOYED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69164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36792" y="1764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 number matching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36792" y="19842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all Authenticator push from 8 May 2023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2203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only; attacker at the real login page can relay the number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624328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6792" y="2697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Duo Verified Push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9169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code; step-up after repeated denials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threshold-triggered, not learned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557016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3630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 static rules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36792" y="38496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Splunk: &gt;9 prompts / 10 min  •  Elastic: 2 denials + success / 10 min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36792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counts for every user; FPs on busy users, FNs on paced attacks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4489704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36792" y="4562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FIDO2 / passkeys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36792" y="47823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Phishing-resistant, device-bound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336792" y="5001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adoption; legacy and fallback push paths remain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 A changes the prompt. Camp B counts the prompts. Neither reads the user's reaction.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•  RESEARCH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0607040" cy="896112"/>
          </a:xfrm>
          <a:prstGeom prst="roundRect">
            <a:avLst>
              <a:gd name="adj" fmla="val 8163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6304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IEEE Xplore, ACM DL, Springer, ScienceDirect, arXiv and Google Scholar, there is no peer-reviewed work in a credible venue that detects MFA fatigue by jointly modelling request frequency AND user response behaviour, with reported precision, recall and false-positive 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5968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15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camps, neither detects fatigue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by redesign still leaves a 49.5% FPR, because it relies on the same human the attack degrades. Generic RBA scores logins independently and cannot represent a sequence.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2450592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45352" y="259689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6151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detection is fixed thresholds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Splunk's &gt;9-in-10-minutes and Elastic's 2-denials-then-success are applied uniformly to every user in the tenant. No learning, no per-user baseline.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0782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096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behaviour is unused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480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changed the prompt — number matching, verified push, added context. Nobody models the response: approval latency, latency drift, the capitulation signature.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93192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40782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096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labelled dataset exists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44805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Wiefling RBA corpus is the only realistic public login data and contains no push-flood events and no approve/deny records. Hence no prior accuracy figures.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49824"/>
            <a:ext cx="10607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5595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near-miss, addressed directly: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(2025), IJHES 8(12) fuses push-frequency and impossible travel. A health/education journal publishing security research under DOI prefix 10.1234 — a placeholder, not a registered Crossref prefix. Decisively: even at face value it models no response behaviour and reports no precision or recall.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•  NOVELTY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— Four Pillars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560320" cy="3886200"/>
          </a:xfrm>
          <a:prstGeom prst="roundRect">
            <a:avLst>
              <a:gd name="adj" fmla="val 2857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91640"/>
            <a:ext cx="512064" cy="51206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behaviour as a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signal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9184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deny_run_length • capitulation_flag • approval_latency_z • latency_drift_slope • post_burst_approval_gap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CONTRIBUTION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444752"/>
            <a:ext cx="2560320" cy="3886200"/>
          </a:xfrm>
          <a:prstGeom prst="roundRect">
            <a:avLst>
              <a:gd name="adj" fmla="val 2857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691640"/>
            <a:ext cx="512064" cy="512064"/>
          </a:xfrm>
          <a:prstGeom prst="ellipse">
            <a:avLst/>
          </a:prstGeom>
          <a:solidFill>
            <a:srgbClr val="2E7D53"/>
          </a:solidFill>
          <a:ln w="12700">
            <a:solidFill>
              <a:srgbClr val="2E7D5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adaptive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baselining + sequence model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29184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per-user prompt rate and latency distribution replaces the global threshold. A GRU catches low-and-slow attacks paced below any fixed count.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FP / FN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44752"/>
            <a:ext cx="2560320" cy="3886200"/>
          </a:xfrm>
          <a:prstGeom prst="roundRect">
            <a:avLst>
              <a:gd name="adj" fmla="val 2857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691640"/>
            <a:ext cx="512064" cy="51206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in-band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29184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feeds back into the auth decision: force step-up to number match or WebAuthn BEFORE the capitulation approval can grant a session.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PREVENTION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444752"/>
            <a:ext cx="2560320" cy="3886200"/>
          </a:xfrm>
          <a:prstGeom prst="roundRect">
            <a:avLst>
              <a:gd name="adj" fmla="val 2857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1691640"/>
            <a:ext cx="512064" cy="51206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71432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reproducible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fatigue benchmark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329184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push-flood streams layered over the RBA dataset — three attack profiles plus benign high-activity hard negatives. A contributed artifact.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4937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DATA VOID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stated precisely: frequency detection, geo/device context and per-user baselining are established UEBA components, chosen because they are proven. The contribution is the response-behaviour dimension, the fusion, and the benchmark.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•  NOVELTY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Signal: Decision Latency Collapses Under Fatigue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fatigued human's decision time shortens across a burst as deliberation degrades into a reflexive tap.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user's latency is stationary. No published work or vendor rule measures this.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6400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2011680"/>
            <a:ext cx="3886200" cy="1572768"/>
          </a:xfrm>
          <a:prstGeom prst="roundRect">
            <a:avLst>
              <a:gd name="adj" fmla="val 4651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21579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latency_drift_slope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505456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regression over the decision latencies within one burst. Computationally trivial — at most a few dozen points — and strongly negative only under fatigue.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69480" y="3712464"/>
            <a:ext cx="3886200" cy="1636776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invented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169664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measured the habituation mechanism empirically — success rises to 90–97% on repeat.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confirms it persists even under code-binding (49.5% FPR).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cryptographically identical, both a valid approval — the latency trajectory is the only evidence that separates them.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•  NOVELTY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— The Five Required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508760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user response behaviour — the collapse of decision latency across a burst and the deny-then-approve capitulation sequence — as learned features, closed back into the auth decision in real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22576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140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it different?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14016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is prevention by redesign or per-login generic risk scoring; industry detection is fixed-threshold correlation. PulseGuard is the first learned, per-user, response-aware, fatigue-specific detector.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1927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limitation is solved?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319272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brittleness (FPs on busy users, blindness to paced attacks); the unused response signal; and the absence of any benchmark to report accuracy against.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33088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it?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4224528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before the approval lands, baselines each user individually so the SOC is not flooded, catches low-and-slow attacks fixed rules miss, and explains every alert via SHAP.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2978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unique?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5129784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Latency-drift and capitulation-sequence modelling + per-user baselining + a closed detection-to-step-up loop + a reproducible benchmark reporting FPR as a primary metric.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•  PROPOSED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 — Five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184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96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sign-in logs • Okta System Log • Duo Admin API • Keycloak (prototype) • benchmark replay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10800000">
            <a:off x="5779008" y="2240280"/>
            <a:ext cx="201168" cy="91440"/>
          </a:xfrm>
          <a:prstGeom prst="triangle">
            <a:avLst/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5328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323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Normalisation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340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collectors → Kafka. Canonical event: {user_id, ts, event_type, decision, decision_latency_ms, src_ip, geo, device_id}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rot="10800000">
            <a:off x="5779008" y="3154680"/>
            <a:ext cx="201168" cy="91440"/>
          </a:xfrm>
          <a:prstGeom prst="triangle">
            <a:avLst/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461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4472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484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prompts/window • inter-prompt stats • burst duration • off-hours • geo &amp; device novelty   ║   RESPONSE: deny_run_length • capitulation_flag • approval_latency_z • latency_drift_slope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5779008" y="4069080"/>
            <a:ext cx="201168" cy="91440"/>
          </a:xfrm>
          <a:prstGeom prst="triangle">
            <a:avLst/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05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3616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61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Engine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628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per-user deviation • Stage B XGBoost • Stage C GRU sequence → isotonic-calibrated risk 0–100 + SHAP top-3 reasons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10800000">
            <a:off x="5779008" y="4983480"/>
            <a:ext cx="201168" cy="91440"/>
          </a:xfrm>
          <a:prstGeom prst="triangle">
            <a:avLst/>
          </a:prstGeom>
          <a:solidFill>
            <a:srgbClr val="C9DCE8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74920"/>
            <a:ext cx="10607040" cy="804672"/>
          </a:xfrm>
          <a:prstGeom prst="roundRect">
            <a:avLst>
              <a:gd name="adj" fmla="val 9091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52760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1755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&amp; Presentation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4772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controller: suppress blind-approve → force step-up (cooldown + escalation ceiling) • React SOC dashboard • syslog/CEF to SIEM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53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path: prompt fires → normalised in ~100 ms → rate compared to that user's EWMA baseline → denials accumulate → latency_drift_slope turns negative → threshold crossed → step-up enforced before any approval grants a session.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•  TECHNOLOGY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Python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API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09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 + FastAPI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high throughput, one language across the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70992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 + Faust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windowed stream processing — no JVM in the path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58568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statistics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55117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76148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EWMA baselines and drift detection without batch retraining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2258568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storage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551176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+ PostgreSQL / TimescaleDB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6148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Sub-ms per-user state; time-series events for replay and evaluation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99816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182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tabular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3924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+ scikit-learn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602736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classifier; strong on tabular features, natively SHAP-compatible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099816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182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sequence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924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(GRU)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602736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 sequence model over the event stream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41064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233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4439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Per-alert top-3 reasons for analyst triage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3941064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IdP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4233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Recharts • Keycloak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44439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dashboard; open-source IdP for live attack demos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782312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646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test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0749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 • pytest + Testcontainers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28523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stack reproducible in one command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573328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 defend: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all-Python pipeline removes the cross-language serialisation hop between feature computation and inference. The model loads in-process inside FastAPI, keeping end-to-end scoring inside the single-digit-millisecond budget that in-band mitigation requires.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•  IMPLEMENTATION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 — 12 Weeks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W1–2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generator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streams, 3 attack profiles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27148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1740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W2–4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91740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+ baselines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91740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live; Splunk/Elastic rules reproduced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05656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0248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W5–7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270248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+ XGBoost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70248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≥ 0.90, FPR below baseline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84164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48756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W7–9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48756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sequence model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048756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Low-and-slow detection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662672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27264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W9–11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27264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+ dashboard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27264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enforced live; SHAP panel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41180" y="1444752"/>
            <a:ext cx="1636776" cy="1783080"/>
          </a:xfrm>
          <a:prstGeom prst="roundRect">
            <a:avLst>
              <a:gd name="adj" fmla="val 4469"/>
            </a:avLst>
          </a:prstGeom>
          <a:solidFill>
            <a:srgbClr val="FBF0D2"/>
          </a:solidFill>
          <a:ln w="12700">
            <a:solidFill>
              <a:srgbClr val="FBF0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5772" y="15910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W11–12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05772" y="19019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+ write-up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05772" y="24688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study; live-tenant validation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Plan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48640" y="3767328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3F8FB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950208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BY USER, never by event — event splits leak per-user baseline state and inflate every metric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frequency-only vs frequency + response behaviour, and with latency_drift_slope removed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Adversarial: 1 prompt / 5 min pacing; attacker mimicking the target's own baseline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Anti-DoS: escalation ceiling must not lock out the legitimate user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Keycloak + scripted attacker, step-up enforced in real time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Required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080760" y="3767328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3950208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/ lab machine, 16 GB RAM, Docker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RBA dataset (free, 31.3M logins)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Redis, TimescaleDB, Keycloak — all open source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GPU for GRU training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6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a university Entra/Okta tenant for the Week-12 external-validity check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oundRect">
            <a:avLst/>
          </a:prstGeom>
          <a:solidFill>
            <a:srgbClr val="F3F8FB"/>
          </a:solidFill>
          <a:ln w="12700">
            <a:solidFill>
              <a:srgbClr val="F3F8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deployed defence either changes the prompt or counts the prompts.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PulseGuard reads the user's reaction — and acts before the approval lands.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272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70048" y="233172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7208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1272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&amp; Literature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91456" y="233172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DEEDF7"/>
          </a:solidFill>
          <a:ln w="12700">
            <a:solidFill>
              <a:srgbClr val="DEED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1272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Research Gap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12864" y="233172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0024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7050024" y="31272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Methodology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34272" y="2331720"/>
            <a:ext cx="19385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71432" y="25146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31272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462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“Isn't this just UEBA?”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001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UEBA baselines activity volume. Nothing in UEBA models the trajectory of decision latency within a single burst.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4370832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4622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not just deploy FIDO2?”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70001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is the correct end state. It does not protect the legacy and fallback push paths live in every large tenant mid-migration.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312664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4041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your data realistic?”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6418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behaviour from 31.3M real logins; attack latencies parameterised from two published human-subjects studies; generator released.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5312664"/>
            <a:ext cx="5166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C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4041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if latency doesn't help?”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56418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11–12 ablation is designed to answer exactly that, and reports the result either way.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276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• 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2026-09-20T13:01:48Z</dcterms:created>
  <dcterms:modified xsi:type="dcterms:W3CDTF">2026-09-20T13:01:48Z</dcterms:modified>
</cp:coreProperties>
</file>